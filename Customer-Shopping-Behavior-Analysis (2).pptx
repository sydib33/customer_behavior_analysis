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erriweather"/>
      <p:regular r:id="rId17"/>
    </p:embeddedFont>
    <p:embeddedFont>
      <p:font typeface="Merriweather"/>
      <p:regular r:id="rId18"/>
    </p:embeddedFont>
    <p:embeddedFont>
      <p:font typeface="Merriweather"/>
      <p:regular r:id="rId19"/>
    </p:embeddedFont>
    <p:embeddedFont>
      <p:font typeface="Merriweather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94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1520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3,900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36470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Transactions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13742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Purchase records analyzed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261520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18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36470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Features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413742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points per transaction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261520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37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36470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413742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ratings imputed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49822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93790" y="5563433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demographics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Purchase details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Shopping behavior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49822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Python Processing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99521" y="5563433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cleaning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engineering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Database integration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556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Revenue by Gender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704624"/>
            <a:ext cx="7556421" cy="1821180"/>
          </a:xfrm>
          <a:prstGeom prst="roundRect">
            <a:avLst>
              <a:gd name="adj" fmla="val 5231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9390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Male Customers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429476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$157,890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total revenue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8224" y="392846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Higher spending segment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4752618"/>
            <a:ext cx="7556421" cy="1821180"/>
          </a:xfrm>
          <a:prstGeom prst="roundRect">
            <a:avLst>
              <a:gd name="adj" fmla="val 5231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8224" y="49870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Female Customers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28224" y="5477470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$75,191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total revenue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28224" y="5976461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Significant opportunity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03690"/>
            <a:ext cx="59626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Product Performance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1794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Top-Rated Products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760589"/>
            <a:ext cx="35015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Gloves (3.86 avg)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Sandals (3.84 avg)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Boots (3.82 avg)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Hat (3.80 avg)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Skirt (3.78 avg)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3179445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Discount-Heavy Products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56321" y="4114919"/>
            <a:ext cx="35015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Hat (50% discounted)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Sneakers (49.66%)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Coat (49.07%)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Sweater (48.17%)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Pants (47.37%)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10972"/>
            <a:ext cx="71155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Shipping &amp; Subscriptions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159913"/>
            <a:ext cx="7556421" cy="2365891"/>
          </a:xfrm>
          <a:prstGeom prst="roundRect">
            <a:avLst>
              <a:gd name="adj" fmla="val 6184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3310" y="2159913"/>
            <a:ext cx="121920" cy="2365891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</p:sp>
      <p:sp>
        <p:nvSpPr>
          <p:cNvPr id="6" name="Text 3"/>
          <p:cNvSpPr/>
          <p:nvPr/>
        </p:nvSpPr>
        <p:spPr>
          <a:xfrm>
            <a:off x="1142524" y="2417207"/>
            <a:ext cx="28354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Shipping Preference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2524" y="2907625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Standard: $58.46 avg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142524" y="3406616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Express: $60.48 avg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142524" y="3905607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Minimal difference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752618"/>
            <a:ext cx="7556421" cy="2365891"/>
          </a:xfrm>
          <a:prstGeom prst="roundRect">
            <a:avLst>
              <a:gd name="adj" fmla="val 6184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3310" y="4752618"/>
            <a:ext cx="121920" cy="2365891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</p:sp>
      <p:sp>
        <p:nvSpPr>
          <p:cNvPr id="12" name="Text 9"/>
          <p:cNvSpPr/>
          <p:nvPr/>
        </p:nvSpPr>
        <p:spPr>
          <a:xfrm>
            <a:off x="1142524" y="5009912"/>
            <a:ext cx="28413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Subscription Impact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142524" y="5500330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Subscribers: $59.49 avg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142524" y="5999321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Non-subscribers: $59.87 avg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142524" y="6498312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Similar spending patterns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68069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Customer Segmentation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79%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Loyal Customers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3,116 repeat buyers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18%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701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New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83 customers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4231"/>
            <a:ext cx="62399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Revenue by Age Group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39985"/>
            <a:ext cx="5593080" cy="283488"/>
          </a:xfrm>
          <a:prstGeom prst="roundRect">
            <a:avLst>
              <a:gd name="adj" fmla="val 33606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790" y="2739985"/>
            <a:ext cx="1342311" cy="283488"/>
          </a:xfrm>
          <a:prstGeom prst="roundRect">
            <a:avLst>
              <a:gd name="adj" fmla="val 33606"/>
            </a:avLst>
          </a:prstGeom>
          <a:solidFill>
            <a:srgbClr val="FFAD94"/>
          </a:solidFill>
          <a:ln/>
        </p:spPr>
      </p:sp>
      <p:sp>
        <p:nvSpPr>
          <p:cNvPr id="5" name="Text 3"/>
          <p:cNvSpPr/>
          <p:nvPr/>
        </p:nvSpPr>
        <p:spPr>
          <a:xfrm>
            <a:off x="6556891" y="2739985"/>
            <a:ext cx="61650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24%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3068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Young Adult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3797260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$62,143 revenue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56884" y="2739985"/>
            <a:ext cx="5597009" cy="283488"/>
          </a:xfrm>
          <a:prstGeom prst="roundRect">
            <a:avLst>
              <a:gd name="adj" fmla="val 33606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6884" y="2739985"/>
            <a:ext cx="1287304" cy="283488"/>
          </a:xfrm>
          <a:prstGeom prst="roundRect">
            <a:avLst>
              <a:gd name="adj" fmla="val 33606"/>
            </a:avLst>
          </a:prstGeom>
          <a:solidFill>
            <a:srgbClr val="FFAD94"/>
          </a:solidFill>
          <a:ln/>
        </p:spPr>
      </p:sp>
      <p:sp>
        <p:nvSpPr>
          <p:cNvPr id="10" name="Text 8"/>
          <p:cNvSpPr/>
          <p:nvPr/>
        </p:nvSpPr>
        <p:spPr>
          <a:xfrm>
            <a:off x="13223915" y="2739985"/>
            <a:ext cx="61269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23%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33068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Middle-aged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56884" y="3797260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$59,197 revenue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4727138"/>
            <a:ext cx="5586174" cy="283488"/>
          </a:xfrm>
          <a:prstGeom prst="roundRect">
            <a:avLst>
              <a:gd name="adj" fmla="val 33606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3790" y="4727138"/>
            <a:ext cx="1228844" cy="283488"/>
          </a:xfrm>
          <a:prstGeom prst="roundRect">
            <a:avLst>
              <a:gd name="adj" fmla="val 33606"/>
            </a:avLst>
          </a:prstGeom>
          <a:solidFill>
            <a:srgbClr val="FFAD94"/>
          </a:solidFill>
          <a:ln/>
        </p:spPr>
      </p:sp>
      <p:sp>
        <p:nvSpPr>
          <p:cNvPr id="15" name="Text 13"/>
          <p:cNvSpPr/>
          <p:nvPr/>
        </p:nvSpPr>
        <p:spPr>
          <a:xfrm>
            <a:off x="6549985" y="4727138"/>
            <a:ext cx="62341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22%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93790" y="52939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Adult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3790" y="5784413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$55,978 revenue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56884" y="4727138"/>
            <a:ext cx="5586293" cy="283488"/>
          </a:xfrm>
          <a:prstGeom prst="roundRect">
            <a:avLst>
              <a:gd name="adj" fmla="val 33606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6884" y="4727138"/>
            <a:ext cx="1228963" cy="283488"/>
          </a:xfrm>
          <a:prstGeom prst="roundRect">
            <a:avLst>
              <a:gd name="adj" fmla="val 33606"/>
            </a:avLst>
          </a:prstGeom>
          <a:solidFill>
            <a:srgbClr val="FFAD94"/>
          </a:solidFill>
          <a:ln/>
        </p:spPr>
      </p:sp>
      <p:sp>
        <p:nvSpPr>
          <p:cNvPr id="20" name="Text 18"/>
          <p:cNvSpPr/>
          <p:nvPr/>
        </p:nvSpPr>
        <p:spPr>
          <a:xfrm>
            <a:off x="13213199" y="4727138"/>
            <a:ext cx="62341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56884" y="52939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Senior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56884" y="5784413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$55,763 revenue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93790" y="640246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Young adults drive highest revenue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218" y="629483"/>
            <a:ext cx="7143393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Top Products by Category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0218" y="1784509"/>
            <a:ext cx="564356" cy="5643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218" y="2629733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Accessories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0218" y="3117175"/>
            <a:ext cx="6384488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Jewelry: 171 orders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0218" y="3612237"/>
            <a:ext cx="6384488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Sunglasses: 161 orders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0218" y="4107299"/>
            <a:ext cx="6384488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Belt: 161 orders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5575" y="1784509"/>
            <a:ext cx="564356" cy="5643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55575" y="2629733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Clothing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55575" y="3117175"/>
            <a:ext cx="6384607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Blouse: 171 orders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455575" y="3612237"/>
            <a:ext cx="6384607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Pants: 171 orders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7455575" y="4107299"/>
            <a:ext cx="6384607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Shirt: 169 orders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0218" y="4917043"/>
            <a:ext cx="564356" cy="5643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0218" y="5762268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Footwear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790218" y="6249710"/>
            <a:ext cx="6384488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Sandals: 160 orders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790218" y="6744772"/>
            <a:ext cx="6384488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Shoes: 150 orders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0218" y="7239833"/>
            <a:ext cx="6384488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Sneakers: 145 orders</a:t>
            </a:r>
            <a:endParaRPr lang="en-US" sz="17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5575" y="4917043"/>
            <a:ext cx="564356" cy="5643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55575" y="5762268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Outerwear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7455575" y="6249710"/>
            <a:ext cx="6384607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Jacket: 163 orders</a:t>
            </a:r>
            <a:endParaRPr lang="en-US" sz="1750" dirty="0"/>
          </a:p>
        </p:txBody>
      </p:sp>
      <p:sp>
        <p:nvSpPr>
          <p:cNvPr id="21" name="Text 15"/>
          <p:cNvSpPr/>
          <p:nvPr/>
        </p:nvSpPr>
        <p:spPr>
          <a:xfrm>
            <a:off x="7455575" y="6744772"/>
            <a:ext cx="6384607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Coat: 161 orders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0735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Key Insights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756291"/>
            <a:ext cx="3664744" cy="3309580"/>
          </a:xfrm>
          <a:prstGeom prst="roundRect">
            <a:avLst>
              <a:gd name="adj" fmla="val 287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28224" y="19907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AD94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2177772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224" y="2897981"/>
            <a:ext cx="319587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High-Spending Discount Users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8224" y="3742730"/>
            <a:ext cx="31958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839 customers used discounts while spending above average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4685348" y="1756291"/>
            <a:ext cx="3664863" cy="3309580"/>
          </a:xfrm>
          <a:prstGeom prst="roundRect">
            <a:avLst>
              <a:gd name="adj" fmla="val 287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19782" y="19907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AD94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06948" y="2177772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19782" y="2897981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Repeat Buyers Subscribe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4919782" y="3742730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958 repeat buyers vs. 2,518 non-repeaters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793790" y="5292685"/>
            <a:ext cx="7556421" cy="2229445"/>
          </a:xfrm>
          <a:prstGeom prst="roundRect">
            <a:avLst>
              <a:gd name="adj" fmla="val 4273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028224" y="552711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AD94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15390" y="5714167"/>
            <a:ext cx="306110" cy="30611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28224" y="64343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Discount Strategy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028224" y="6924794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sales boosts with margin control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79119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Strategic Recommendations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2044"/>
            <a:ext cx="4196358" cy="3048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 exclusive benefits for subscribers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022044"/>
            <a:ext cx="4196358" cy="3048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196352"/>
            <a:ext cx="39196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Customer Loyalty Programs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Reward repeat buyers to move into "Loyal" segment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022044"/>
            <a:ext cx="4196358" cy="3048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196352"/>
            <a:ext cx="32590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sales boosts with margin control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Product Positioning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5829181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Highlight top-rated and best-selling products in campaigns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164455"/>
            <a:ext cx="6407944" cy="3048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high-revenue age groups and express-shipping users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2026-03-25T10:16:45Z</dcterms:created>
  <dcterms:modified xsi:type="dcterms:W3CDTF">2026-03-25T10:16:45Z</dcterms:modified>
</cp:coreProperties>
</file>